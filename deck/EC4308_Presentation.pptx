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Vienna (0:45): title, the Goyal-Welch puzzle in one sentence, roadmap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Vienna (1:00): set up the puzzle. Emphasise: replication first, extension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Leon (1:15): data sources, alignment convention, the 99.98% validation number, sample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Shao (1:30): one line per method, stress the no-lookahead CV protocol and the GR constraint.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Sasi (1:15): replication = credibility. Show the numbers side by side with the published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Sasi (1:15): negative results are results — correct execution matters more than a positive sign. Walk through the bar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Sasi (1:15): Sharpe vs wealth trade-off; ΔU interpretation; fee sensitivity 5/20 bps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Vienna (1:00): economic interpretation, connect to the literature.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Vienna (0:45): wrap-up, hand over to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four members (2:00): En Shao on model choices, Sasi on evaluation details, Leon on data, Vienna on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65C"/>
                </a:solidFill>
              </a:rPr>
              <a:t>Forecasting the Equity Risk Premium Out-of-Sample:
Regularized ML, Technical Indicators &amp; Tactical Asset Allocation</a:t>
            </a:r>
          </a:p>
          <a:p>
            <a:r>
              <a:rPr sz="1800">
                <a:solidFill>
                  <a:srgbClr val="C0502D"/>
                </a:solidFill>
              </a:rPr>
              <a:t>EC4308 Machine Learning and Economic Forecasting — Group Project (Week 13)</a:t>
            </a:r>
          </a:p>
          <a:p>
            <a:r>
              <a:rPr sz="1800"/>
              <a:t>Leon • En Shao • Sasinthiran Kannan • Vienna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65C"/>
                </a:solidFill>
              </a:rPr>
              <a:t>Motivation: Can anything beat the historical average?</a:t>
            </a:r>
          </a:p>
          <a:p>
            <a:r>
              <a:rPr sz="1400">
                <a:solidFill>
                  <a:srgbClr val="606060"/>
                </a:solidFill>
              </a:rPr>
              <a:t>Goyal–Welch (2008, 2024) vs Neely, Rapach, Tu &amp; Zhou (2014)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/>
              <a:t>The equity premium is the single most important input for portfolio choice — 1 month of lead time is economically valuable.</a:t>
            </a:r>
          </a:p>
          <a:p>
            <a:pPr/>
            <a:r>
              <a:rPr sz="1600"/>
              <a:t>Goyal &amp; Welch: essentially no macro fundamental beats the prevailing mean out-of-sample; Goyal–Welch–Zafirov (2024) reach the same conclusion with an expanded dataset of 57 monthly series.</a:t>
            </a:r>
          </a:p>
          <a:p>
            <a:pPr/>
            <a:r>
              <a:rPr sz="1600"/>
              <a:t>Neely et al. (2014): 14 technical indicators (MA, MOM, OBV) DO predict the premium out-of-sample on 1966–2011.</a:t>
            </a:r>
          </a:p>
          <a:p>
            <a:pPr/>
            <a:r>
              <a:rPr sz="1600"/>
              <a:t>Our question: with modern regularized ML, do technical indicators + macro lags beat the prevailing mean on the extended 1951–2025 sample?</a:t>
            </a:r>
          </a:p>
          <a:p>
            <a:pPr/>
            <a:r>
              <a:rPr sz="1600"/>
              <a:t>We replicate Neely et al. exactly (signals match 99.98%), then extend the sample to 2025.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65C"/>
                </a:solidFill>
              </a:rPr>
              <a:t>Data: 899 months, 98 predictors, zero lookahead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/>
              <a:t>Target: monthly log equity premium (%), y = 100·(ln(1+Rᵐ) − ln(1+Rᶠ)), S&amp;P 500 over the risk-free rate.</a:t>
            </a:r>
          </a:p>
          <a:p>
            <a:pPr/>
            <a:r>
              <a:rPr sz="1600"/>
              <a:t>Macro: the 14 Goyal–Welch predictors, each with lags 1–6  →  84 columns.</a:t>
            </a:r>
          </a:p>
          <a:p>
            <a:pPr/>
            <a:r>
              <a:rPr sz="1600"/>
              <a:t>Technical: 14 binary Neely signals — 6 MA, 2 MOM, 6 OBV — computed from raw index level + S&amp;P 500 volume.</a:t>
            </a:r>
          </a:p>
          <a:p>
            <a:pPr/>
            <a:r>
              <a:rPr sz="1600"/>
              <a:t>Sample: 1951-02 → 2025-12; predictors aligned to 'observable at end of month t' — no lookahead leakage.</a:t>
            </a:r>
          </a:p>
          <a:p>
            <a:pPr/>
            <a:r>
              <a:rPr sz="1600"/>
              <a:t>Validation: our computed signals match the published Neely series in 99.98% of signal-months (12/14 exact).</a:t>
            </a:r>
          </a:p>
          <a:p>
            <a:pPr/>
            <a:r>
              <a:rPr sz="1600"/>
              <a:t>Fixed 240-month rolling window; first OOS forecast 1971-02; n = 659 OOS months at h =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65C"/>
                </a:solidFill>
              </a:rPr>
              <a:t>Methods: 7 models + 2 combinations vs the prevailing mean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/>
              <a:t>Benchmark: prevailing (historical) mean — the only admissible benchmark.</a:t>
            </a:r>
          </a:p>
          <a:p>
            <a:pPr/>
            <a:r>
              <a:rPr sz="1600"/>
              <a:t>Models (same 98-predictor matrix, re-estimated every window):</a:t>
            </a:r>
          </a:p>
          <a:p>
            <a:pPr lvl="1"/>
            <a:r>
              <a:rPr sz="1600"/>
              <a:t>LASSO (hdm, theoretical penalty — no CV) &amp; post-LASSO</a:t>
            </a:r>
          </a:p>
          <a:p>
            <a:pPr lvl="1"/>
            <a:r>
              <a:rPr sz="1600"/>
              <a:t>Ridge and Elastic Net (glmnet, 10-fold CV inside the window)</a:t>
            </a:r>
          </a:p>
          <a:p>
            <a:pPr lvl="1"/>
            <a:r>
              <a:rPr sz="1600"/>
              <a:t>PCR &amp; PLS (CV-selected components) • Random Forest (500 trees, fixed seed)</a:t>
            </a:r>
          </a:p>
          <a:p>
            <a:pPr/>
            <a:r>
              <a:rPr sz="1600"/>
              <a:t>Combinations: equal-weight 1/N and constrained Granger–Ramanathan (Σw=1, w≥0, weights from past OOS errors only).</a:t>
            </a:r>
          </a:p>
          <a:p>
            <a:pPr/>
            <a:r>
              <a:rPr sz="1600"/>
              <a:t>Horizons h ∈ {1, 3, 12}; DM (1995) tests with HAC lag h−1; Clark–West as appendix check.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65C"/>
                </a:solidFill>
              </a:rPr>
              <a:t>Step 1: we replicate Neely et al. (2014) — their result survives</a:t>
            </a:r>
          </a:p>
          <a:p>
            <a:r>
              <a:rPr sz="1400">
                <a:solidFill>
                  <a:srgbClr val="606060"/>
                </a:solidFill>
              </a:rPr>
              <a:t>Expanding-window bivariate regressions, one signal at a time, Clark–West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/>
              <a:t>On their 1966–2011 sample: VOL_2_12 R²_OOS = +0.661% (CW p = 0.0152), VOL_3_12 = +0.762% (p = 0.0294) — positive and significant, same sign and order of magnitude as published (+0.33%).</a:t>
            </a:r>
          </a:p>
          <a:p>
            <a:pPr/>
            <a:r>
              <a:rPr sz="1600"/>
              <a:t>Volume-based (OBV) signals carry the predictive content; MA/MOM are weaker — the same pattern as the paper.</a:t>
            </a:r>
          </a:p>
          <a:p>
            <a:pPr/>
            <a:r>
              <a:rPr sz="1600"/>
              <a:t>This validates our data pipeline and test implementation before we extend the sample.</a:t>
            </a:r>
          </a:p>
          <a:p>
            <a:pPr/>
            <a:r>
              <a:rPr sz="1600"/>
              <a:t>Extension 2012–2025: every signal turns negative/insignificant (VOL_3_12 = -1.282%, p = 0.429).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65C"/>
                </a:solidFill>
              </a:rPr>
              <a:t>Result 1: nothing beats the prevailing mean on the extended sample</a:t>
            </a:r>
          </a:p>
        </p:txBody>
      </p:sp>
      <p:pic>
        <p:nvPicPr>
          <p:cNvPr id="3" name="Picture 2" descr="figure2_r2o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852160" cy="50161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75120" y="12344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/>
              <a:t>All models show NEGATIVE R²_OOS at every horizon: the Goyal–Welch result, reproduced with modern ML.</a:t>
            </a:r>
          </a:p>
          <a:p>
            <a:pPr/>
            <a:r>
              <a:rPr sz="1600"/>
              <a:t>Best at h=1: GR combination R²_OOS = -10.037%, rlasso = -8.786% (PM RMSE 4.40 vs 4.614).</a:t>
            </a:r>
          </a:p>
          <a:p>
            <a:pPr/>
            <a:r>
              <a:rPr sz="1600"/>
              <a:t>Hit rates 54–58% vs PM 60% — the direction of the premium is also hard to call.</a:t>
            </a:r>
          </a:p>
          <a:p>
            <a:pPr/>
            <a:r>
              <a:rPr sz="1600"/>
              <a:t>Post-2000 (and post-2011) predictability decay drives the result: the information is real but transient.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65C"/>
                </a:solidFill>
              </a:rPr>
              <a:t>Result 2: forecasts still have economic value — drawdown control</a:t>
            </a:r>
          </a:p>
        </p:txBody>
      </p:sp>
      <p:pic>
        <p:nvPicPr>
          <p:cNvPr id="3" name="Picture 2" descr="figure1_w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583680" cy="27651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28016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/>
              <a:t>Switching (10 bps): model strategies cap the max drawdown at -23% vs buy-and-hold -50%; terminal wealth $67.651 vs $346.470262259372 for buy-and-hold.</a:t>
            </a:r>
          </a:p>
          <a:p>
            <a:pPr/>
            <a:r>
              <a:rPr sz="1600"/>
              <a:t>Mean–variance investor (γ=3): post-LASSO ΔU = +1.31% p.a., rlasso +1.22% p.a., GR +1.06% p.a. (10 bps net).</a:t>
            </a:r>
          </a:p>
          <a:p>
            <a:pPr/>
            <a:r>
              <a:rPr sz="1600"/>
              <a:t>Forecasts earn their keep as risk-management signals, not as point-forecast improvements.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65C"/>
                </a:solidFill>
              </a:rPr>
              <a:t>Why did predictability decay?</a:t>
            </a:r>
          </a:p>
        </p:txBody>
      </p:sp>
      <p:pic>
        <p:nvPicPr>
          <p:cNvPr id="3" name="Picture 2" descr="figure4_subperi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669280" cy="34015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3716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/>
              <a:t>Recession months drive the signal value: volume/MA rules earn their R² in a handful of crisis months (2000–02, 2008–09).</a:t>
            </a:r>
          </a:p>
          <a:p>
            <a:pPr/>
            <a:r>
              <a:rPr sz="1600"/>
              <a:t>Post-2011: fewer deep drawdowns, a passive-dominated market, and faster arbitrage of published signals.</a:t>
            </a:r>
          </a:p>
          <a:p>
            <a:pPr/>
            <a:r>
              <a:rPr sz="1600"/>
              <a:t>Regularized multivariate fits overfit relative to the simple bivariate design — shrinkage toward the mean is aggressive.</a:t>
            </a:r>
          </a:p>
          <a:p>
            <a:pPr/>
            <a:r>
              <a:rPr sz="1600"/>
              <a:t>Consistent with Goyal–Welch–Zafirov (2024): the premium remains extremely hard to predict out-of-sample.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65C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/>
              <a:t>We reproduce Neely et al. (2014) faithfully (99.98% signal match; positive VOL-signal R²_OOS on 1966–2011).</a:t>
            </a:r>
          </a:p>
          <a:p>
            <a:pPr/>
            <a:r>
              <a:rPr sz="1600"/>
              <a:t>Extended to 2025, no model — regularized, tree-based, or combined — beats the prevailing mean on RMSE/MAE or direction.</a:t>
            </a:r>
          </a:p>
          <a:p>
            <a:pPr/>
            <a:r>
              <a:rPr sz="1600"/>
              <a:t>Economic value persists: switching halves the max drawdown; MV gains of +1.2–1.5% p.a. net of costs.</a:t>
            </a:r>
          </a:p>
          <a:p>
            <a:pPr/>
            <a:r>
              <a:rPr sz="1600"/>
              <a:t>Lesson: honest evaluation, disciplined windows and costs matter more than model complexity.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F365C"/>
                </a:solidFill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